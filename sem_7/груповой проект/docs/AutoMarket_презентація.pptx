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9bf142fb-6f85-68f2-d881-9ffd6a70360b}">
          <p14:sldIdLst>
            <p14:sldId id="256"/>
            <p14:sldId id="257"/>
          </p14:sldIdLst>
        </p14:section>
        <p14:section name="Функціональність" id="{e5cf14ac-a796-7c29-8a13-508afe820229}">
          <p14:sldIdLst>
            <p14:sldId id="258"/>
            <p14:sldId id="259"/>
          </p14:sldIdLst>
        </p14:section>
        <p14:section name="Технічна частина" id="{622ba817-b0bb-0561-d85f-966857e541b6}">
          <p14:sldIdLst>
            <p14:sldId id="260"/>
            <p14:sldId id="261"/>
            <p14:sldId id="262"/>
            <p14:sldId id="263"/>
            <p14:sldId id="264"/>
          </p14:sldIdLst>
        </p14:section>
        <p14:section name="Інтерфейс" id="{0a03af94-1a2f-d400-51b1-ff1e6e385bee}">
          <p14:sldIdLst>
            <p14:sldId id="265"/>
            <p14:sldId id="266"/>
          </p14:sldIdLst>
        </p14:section>
        <p14:section name="Підсумки" id="{fc52ecc4-37ca-7271-0de7-5d7b1261b0a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AutoMarket — вебсервіс оголошень про продаж б/у техніки та авто з модерацією адміністратором. Стек: ASP.NET Core Web API, Entity Framework Core, Angular.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основні частини системи: каталог для гостей, особистий кабінет, модерація оголошень і адміністрування.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ролі. Ролі зберігаються в JWT-токені, доступ до адмінських методів API закритий атрибутом Authorize(Roles = Admin).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бізнес-логіка проєкту — статуси оголошення. Після редагування оголошення знову йде на перевірку, щоб не можна було змінити схвалене оголошення на заборонене.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обрано під вимоги курсу: ASP.NET Core + Entity Framework + REST API. Для швидкого старту використовується SQLite, перехід на PostgreSQL — заміна одного провайдера.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Клієнт-серверна архітектура з шарами. Повна схема — docs/diagrams/architecture.png.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створюється code-first: класи моделей → міграції EF Core → таблиці. Видалення користувача каскадно видаляє його оголошення.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ендпоінти задокументовані XML-коментарями й доступні в Swagger. Помилки повертаються у стандартному форматі ProblemDetails.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Додатково: адміністратор не може заблокувати або видалити себе, а в системі завжди лишається хоча б один адмін.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Каталог доступний гостям без реєстрації. Контакти продавця показуються за кнопкою.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Адмін-панель доступна лише ролі Admin: це перевіряє і guard у браузері, і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Юніт-тести працюють на справжній SQLite у пам'яті, інтеграційні піднімають весь API через WebApplicationFactory.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Проєкт виконує всі заявлені вимоги: гість, користувач і адміністратор мають свої сценарії, оголошення проходять модерацію.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AutoMarket — дошка оголошень б/у техніки та авто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green"/>
          <p:cNvSpPr/>
          <p:nvPr/>
        </p:nvSpPr>
        <p:spPr>
          <a:xfrm rot="720000">
            <a:off x="640080" y="228600"/>
            <a:ext cx="1737360" cy="1554480"/>
          </a:xfrm>
          <a:prstGeom prst="rect">
            <a:avLst/>
          </a:prstGeom>
          <a:solidFill>
            <a:schemeClr val="accent1">
              <a:alpha val="15000"/>
            </a:schemeClr>
          </a:solidFill>
          <a:ln w="12700">
            <a:solidFill>
              <a:srgbClr val="1E8E3E">
                <a:alpha val="0"/>
              </a:srgbClr>
            </a:solidFill>
            <a:prstDash val="solid"/>
          </a:ln>
        </p:spPr>
      </p:sp>
      <p:sp>
        <p:nvSpPr>
          <p:cNvPr id="3" name="decor yellow"/>
          <p:cNvSpPr/>
          <p:nvPr/>
        </p:nvSpPr>
        <p:spPr>
          <a:xfrm rot="-600000">
            <a:off x="6766560" y="3291840"/>
            <a:ext cx="1463040" cy="1371600"/>
          </a:xfrm>
          <a:prstGeom prst="rect">
            <a:avLst/>
          </a:prstGeom>
          <a:solidFill>
            <a:schemeClr val="accent2">
              <a:alpha val="15000"/>
            </a:schemeClr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4" name="title panel"/>
          <p:cNvSpPr/>
          <p:nvPr/>
        </p:nvSpPr>
        <p:spPr>
          <a:xfrm>
            <a:off x="0" y="1143000"/>
            <a:ext cx="9144000" cy="265176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Звіт роботи у груповому проєкті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AutoMarket — дошка оголошень б/у техніки та авто</a:t>
            </a:r>
            <a:endParaRPr lang="en-US" sz="2000" dirty="0"/>
          </a:p>
        </p:txBody>
      </p:sp>
      <p:sp>
        <p:nvSpPr>
          <p:cNvPr id="7" name="tile 1"/>
          <p:cNvSpPr/>
          <p:nvPr/>
        </p:nvSpPr>
        <p:spPr>
          <a:xfrm>
            <a:off x="3200400" y="256032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ile icon 1" descr="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697480"/>
            <a:ext cx="274320" cy="274320"/>
          </a:xfrm>
          <a:prstGeom prst="rect">
            <a:avLst/>
          </a:prstGeom>
        </p:spPr>
      </p:pic>
      <p:sp>
        <p:nvSpPr>
          <p:cNvPr id="9" name="tile 2"/>
          <p:cNvSpPr/>
          <p:nvPr/>
        </p:nvSpPr>
        <p:spPr>
          <a:xfrm>
            <a:off x="3931920" y="256032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tile icon 2" descr="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697480"/>
            <a:ext cx="274320" cy="274320"/>
          </a:xfrm>
          <a:prstGeom prst="rect">
            <a:avLst/>
          </a:prstGeom>
        </p:spPr>
      </p:pic>
      <p:sp>
        <p:nvSpPr>
          <p:cNvPr id="11" name="tile 3"/>
          <p:cNvSpPr/>
          <p:nvPr/>
        </p:nvSpPr>
        <p:spPr>
          <a:xfrm>
            <a:off x="4663440" y="256032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tile icon 3" descr="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97480"/>
            <a:ext cx="274320" cy="274320"/>
          </a:xfrm>
          <a:prstGeom prst="rect">
            <a:avLst/>
          </a:prstGeom>
        </p:spPr>
      </p:pic>
      <p:sp>
        <p:nvSpPr>
          <p:cNvPr id="13" name="tile 4"/>
          <p:cNvSpPr/>
          <p:nvPr/>
        </p:nvSpPr>
        <p:spPr>
          <a:xfrm>
            <a:off x="5394960" y="256032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tile icon 4" descr="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6974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Підготував студент групи ____________   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Огляд реалізованої системи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AutoMarket — вебсервіс, де користувачі публікують оголошення, а адміністратор перевіряє їх перед показом у каталозі.</a:t>
            </a:r>
            <a:endParaRPr lang="en-US" sz="1400" dirty="0"/>
          </a:p>
        </p:txBody>
      </p:sp>
      <p:sp>
        <p:nvSpPr>
          <p:cNvPr id="4" name="card Каталог і пошук"/>
          <p:cNvSpPr/>
          <p:nvPr/>
        </p:nvSpPr>
        <p:spPr>
          <a:xfrm>
            <a:off x="457200" y="14630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5" name="Каталог і пошук circle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Каталог і пошук icon" descr="Каталог і пошу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059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91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Каталог і пошук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0848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Активні оголошення з пошуком за текстом, фільтрами за категорією, ціною та містом, сортуванням і пагінацією.</a:t>
            </a:r>
            <a:endParaRPr lang="en-US" sz="1200" dirty="0"/>
          </a:p>
        </p:txBody>
      </p:sp>
      <p:sp>
        <p:nvSpPr>
          <p:cNvPr id="9" name="card Кабінет користувача"/>
          <p:cNvSpPr/>
          <p:nvPr/>
        </p:nvSpPr>
        <p:spPr>
          <a:xfrm>
            <a:off x="4663440" y="14630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0" name="Кабінет користувача circle"/>
          <p:cNvSpPr/>
          <p:nvPr/>
        </p:nvSpPr>
        <p:spPr>
          <a:xfrm>
            <a:off x="489204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Кабінет користувача icon" descr="Кабінет користувач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8059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691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Кабінет користувача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0848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Реєстрація, створення й редагування оголошень, статуси (на модерації, активні, відхилені) та обране.</a:t>
            </a:r>
            <a:endParaRPr lang="en-US" sz="1200" dirty="0"/>
          </a:p>
        </p:txBody>
      </p:sp>
      <p:sp>
        <p:nvSpPr>
          <p:cNvPr id="14" name="card Модерація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5" name="Модерація circle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Модерація icon" descr="Модераці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Модерація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37307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Кожне нове або змінене оголошення потрапляє в чергу. Адмін схвалює його або відхиляє з причиною.</a:t>
            </a:r>
            <a:endParaRPr lang="en-US" sz="1200" dirty="0"/>
          </a:p>
        </p:txBody>
      </p:sp>
      <p:sp>
        <p:nvSpPr>
          <p:cNvPr id="19" name="card Адміністрування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0" name="Адміністрування circle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Адміністрування icon" descr="Адмініструванн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518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Адміністрування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37307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Керування користувачами (блокування, ролі, видалення), категоріями та статистика по системі.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Ролі користувачів і їхні можливості</a:t>
            </a:r>
            <a:endParaRPr lang="en-US" sz="2600" dirty="0"/>
          </a:p>
        </p:txBody>
      </p:sp>
      <p:sp>
        <p:nvSpPr>
          <p:cNvPr id="3" name="role Гість"/>
          <p:cNvSpPr/>
          <p:nvPr/>
        </p:nvSpPr>
        <p:spPr>
          <a:xfrm>
            <a:off x="457200" y="1051560"/>
            <a:ext cx="2615184" cy="35204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4" name="Гість circle"/>
          <p:cNvSpPr/>
          <p:nvPr/>
        </p:nvSpPr>
        <p:spPr>
          <a:xfrm>
            <a:off x="1444752" y="128016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Гість icon" descr="Гіс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14401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Гість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Переглядає каталог активних оголошень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Шукає та фільтрує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Відкриває сторінку оголошення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Реєструється або входить</a:t>
            </a:r>
            <a:endParaRPr lang="en-US" sz="1400" dirty="0"/>
          </a:p>
        </p:txBody>
      </p:sp>
      <p:sp>
        <p:nvSpPr>
          <p:cNvPr id="8" name="role Користувач"/>
          <p:cNvSpPr/>
          <p:nvPr/>
        </p:nvSpPr>
        <p:spPr>
          <a:xfrm>
            <a:off x="3264408" y="1051560"/>
            <a:ext cx="2615184" cy="35204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9" name="Користувач circle"/>
          <p:cNvSpPr/>
          <p:nvPr/>
        </p:nvSpPr>
        <p:spPr>
          <a:xfrm>
            <a:off x="4251960" y="1280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Користувач icon" descr="Користувач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4401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7288" y="2011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Користувач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514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Створює та редагує свої оголошення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Бачить статуси і причину відхилення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Додає оголошення в обране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Змінює профіль і пароль</a:t>
            </a:r>
            <a:endParaRPr lang="en-US" sz="1400" dirty="0"/>
          </a:p>
        </p:txBody>
      </p:sp>
      <p:sp>
        <p:nvSpPr>
          <p:cNvPr id="13" name="role Адміністратор"/>
          <p:cNvSpPr/>
          <p:nvPr/>
        </p:nvSpPr>
        <p:spPr>
          <a:xfrm>
            <a:off x="6071616" y="1051560"/>
            <a:ext cx="2615184" cy="35204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4" name="Адміністратор circle"/>
          <p:cNvSpPr/>
          <p:nvPr/>
        </p:nvSpPr>
        <p:spPr>
          <a:xfrm>
            <a:off x="7059168" y="12801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Адміністратор icon" descr="Адміністрато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14401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54496" y="2011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Адміністратор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5146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Схвалює або відхиляє оголошення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Блокує користувачів, змінює ролі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Керує категоріями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Переглядає статистику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Життєвий цикл оголошення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Оголошення не потрапляє в каталог одразу: спочатку його перевіряє адміністратор.</a:t>
            </a:r>
            <a:endParaRPr lang="en-US" sz="1400" dirty="0"/>
          </a:p>
        </p:txBody>
      </p:sp>
      <p:sp>
        <p:nvSpPr>
          <p:cNvPr id="4" name="status Створення"/>
          <p:cNvSpPr/>
          <p:nvPr/>
        </p:nvSpPr>
        <p:spPr>
          <a:xfrm>
            <a:off x="457200" y="137160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5" name="Створення 1 circle"/>
          <p:cNvSpPr/>
          <p:nvPr/>
        </p:nvSpPr>
        <p:spPr>
          <a:xfrm>
            <a:off x="1120140" y="148132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Створення 1 icon" descr="Створення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956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984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Створення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25856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Автор заповнює форму або редагує оголошення</a:t>
            </a:r>
            <a:endParaRPr lang="en-US" sz="1050" dirty="0"/>
          </a:p>
        </p:txBody>
      </p:sp>
      <p:sp>
        <p:nvSpPr>
          <p:cNvPr id="9" name="flow arrow 1"/>
          <p:cNvSpPr/>
          <p:nvPr/>
        </p:nvSpPr>
        <p:spPr>
          <a:xfrm>
            <a:off x="2267712" y="2029968"/>
            <a:ext cx="310896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triangle"/>
          </a:ln>
        </p:spPr>
      </p:sp>
      <p:sp>
        <p:nvSpPr>
          <p:cNvPr id="10" name="status Pending"/>
          <p:cNvSpPr/>
          <p:nvPr/>
        </p:nvSpPr>
        <p:spPr>
          <a:xfrm>
            <a:off x="2606040" y="137160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1" name="Pending 1 circle"/>
          <p:cNvSpPr/>
          <p:nvPr/>
        </p:nvSpPr>
        <p:spPr>
          <a:xfrm>
            <a:off x="3268980" y="14813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Pending 1 icon" descr="Pending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9562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7480" y="1984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Pending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715768" y="225856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Чекає на перевірку адміністратором</a:t>
            </a:r>
            <a:endParaRPr lang="en-US" sz="1050" dirty="0"/>
          </a:p>
        </p:txBody>
      </p:sp>
      <p:sp>
        <p:nvSpPr>
          <p:cNvPr id="15" name="flow arrow 2"/>
          <p:cNvSpPr/>
          <p:nvPr/>
        </p:nvSpPr>
        <p:spPr>
          <a:xfrm>
            <a:off x="4416552" y="2029968"/>
            <a:ext cx="310896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triangle"/>
          </a:ln>
        </p:spPr>
      </p:sp>
      <p:sp>
        <p:nvSpPr>
          <p:cNvPr id="16" name="status Active / Rejected"/>
          <p:cNvSpPr/>
          <p:nvPr/>
        </p:nvSpPr>
        <p:spPr>
          <a:xfrm>
            <a:off x="4754880" y="137160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7" name="Active / Rejected 1 circle"/>
          <p:cNvSpPr/>
          <p:nvPr/>
        </p:nvSpPr>
        <p:spPr>
          <a:xfrm>
            <a:off x="5143500" y="1481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Active / Rejected 1 icon" descr="Active / Rejected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95628"/>
            <a:ext cx="228600" cy="228600"/>
          </a:xfrm>
          <a:prstGeom prst="rect">
            <a:avLst/>
          </a:prstGeom>
        </p:spPr>
      </p:pic>
      <p:sp>
        <p:nvSpPr>
          <p:cNvPr id="19" name="Active / Rejected 2 circle"/>
          <p:cNvSpPr/>
          <p:nvPr/>
        </p:nvSpPr>
        <p:spPr>
          <a:xfrm>
            <a:off x="5692140" y="148132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Active / Rejected 2 icon" descr="Active / Rejected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9562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46320" y="1984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Active / Rejected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64608" y="225856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Схвалено — у каталозі; відхилено — з причиною</a:t>
            </a:r>
            <a:endParaRPr lang="en-US" sz="1050" dirty="0"/>
          </a:p>
        </p:txBody>
      </p:sp>
      <p:sp>
        <p:nvSpPr>
          <p:cNvPr id="23" name="flow arrow 3"/>
          <p:cNvSpPr/>
          <p:nvPr/>
        </p:nvSpPr>
        <p:spPr>
          <a:xfrm>
            <a:off x="6565392" y="2029968"/>
            <a:ext cx="310896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triangle"/>
          </a:ln>
        </p:spPr>
      </p:sp>
      <p:sp>
        <p:nvSpPr>
          <p:cNvPr id="24" name="status Deleted"/>
          <p:cNvSpPr/>
          <p:nvPr/>
        </p:nvSpPr>
        <p:spPr>
          <a:xfrm>
            <a:off x="6903720" y="137160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5" name="Deleted 1 circle"/>
          <p:cNvSpPr/>
          <p:nvPr/>
        </p:nvSpPr>
        <p:spPr>
          <a:xfrm>
            <a:off x="7566660" y="148132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Deleted 1 icon" descr="Deleted 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5956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95160" y="1984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Deleted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013448" y="2258568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Автор видалив (м'яке видалення)</a:t>
            </a:r>
            <a:endParaRPr lang="en-US" sz="1050" dirty="0"/>
          </a:p>
        </p:txBody>
      </p:sp>
      <p:sp>
        <p:nvSpPr>
          <p:cNvPr id="29" name="box Правила"/>
          <p:cNvSpPr/>
          <p:nvPr/>
        </p:nvSpPr>
        <p:spPr>
          <a:xfrm>
            <a:off x="457200" y="288036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30" name="box icon 1" descr="Правил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3580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24128" y="2999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Правила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31520" y="340156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Будь-яке редагування повертає оголошення в Pending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Причина відхилення обов'язкова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Видалене оголошення не можна схвалити</a:t>
            </a:r>
            <a:endParaRPr lang="en-US" sz="1400" dirty="0"/>
          </a:p>
        </p:txBody>
      </p:sp>
      <p:sp>
        <p:nvSpPr>
          <p:cNvPr id="33" name="box Реалізація"/>
          <p:cNvSpPr/>
          <p:nvPr/>
        </p:nvSpPr>
        <p:spPr>
          <a:xfrm>
            <a:off x="4663440" y="288036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34" name="box icon 2" descr="Реалізація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03580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230368" y="2999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Реалізація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4937760" y="340156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Статус — enum ListingStatus, у БД зберігається рядком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Логіка в ListingService, а не в контролерах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Модерація — окремі ендпоінти approve і reject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Технологічний стек</a:t>
            </a:r>
            <a:endParaRPr lang="en-US" sz="2600" dirty="0"/>
          </a:p>
        </p:txBody>
      </p:sp>
      <p:sp>
        <p:nvSpPr>
          <p:cNvPr id="3" name="stack Backend"/>
          <p:cNvSpPr/>
          <p:nvPr/>
        </p:nvSpPr>
        <p:spPr>
          <a:xfrm>
            <a:off x="457200" y="1051560"/>
            <a:ext cx="261518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4" name="Backend 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Backend icon" descr="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ASP.NET Core 8 Web API, REST, Swagger</a:t>
            </a:r>
            <a:endParaRPr lang="en-US" sz="1200" dirty="0"/>
          </a:p>
        </p:txBody>
      </p:sp>
      <p:sp>
        <p:nvSpPr>
          <p:cNvPr id="8" name="stack Дані"/>
          <p:cNvSpPr/>
          <p:nvPr/>
        </p:nvSpPr>
        <p:spPr>
          <a:xfrm>
            <a:off x="3264408" y="1051560"/>
            <a:ext cx="261518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9" name="Дані circle"/>
          <p:cNvSpPr/>
          <p:nvPr/>
        </p:nvSpPr>
        <p:spPr>
          <a:xfrm>
            <a:off x="3493008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Дані icon" descr="Дані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738" y="14058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33088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Дані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Entity Framework Core 8 (code-first, міграції), SQLite</a:t>
            </a:r>
            <a:endParaRPr lang="en-US" sz="1200" dirty="0"/>
          </a:p>
        </p:txBody>
      </p:sp>
      <p:sp>
        <p:nvSpPr>
          <p:cNvPr id="13" name="stack Безпека"/>
          <p:cNvSpPr/>
          <p:nvPr/>
        </p:nvSpPr>
        <p:spPr>
          <a:xfrm>
            <a:off x="6071616" y="1051560"/>
            <a:ext cx="261518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4" name="Безпека circle"/>
          <p:cNvSpPr/>
          <p:nvPr/>
        </p:nvSpPr>
        <p:spPr>
          <a:xfrm>
            <a:off x="6300216" y="12801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Безпека icon" descr="Безпе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46" y="1405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0296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Безпека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JWT-автентифікація, ролі User / Admin, BCrypt</a:t>
            </a:r>
            <a:endParaRPr lang="en-US" sz="1200" dirty="0"/>
          </a:p>
        </p:txBody>
      </p:sp>
      <p:sp>
        <p:nvSpPr>
          <p:cNvPr id="18" name="stack Frontend"/>
          <p:cNvSpPr/>
          <p:nvPr/>
        </p:nvSpPr>
        <p:spPr>
          <a:xfrm>
            <a:off x="457200" y="2880360"/>
            <a:ext cx="261518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9" name="Frontend circle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Frontend icon" descr="Front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2346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154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Frontend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Angular 22, TypeScript, standalone-компоненти, signals</a:t>
            </a:r>
            <a:endParaRPr lang="en-US" sz="1200" dirty="0"/>
          </a:p>
        </p:txBody>
      </p:sp>
      <p:sp>
        <p:nvSpPr>
          <p:cNvPr id="23" name="stack Тести"/>
          <p:cNvSpPr/>
          <p:nvPr/>
        </p:nvSpPr>
        <p:spPr>
          <a:xfrm>
            <a:off x="3264408" y="2880360"/>
            <a:ext cx="261518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4" name="Тести circle"/>
          <p:cNvSpPr/>
          <p:nvPr/>
        </p:nvSpPr>
        <p:spPr>
          <a:xfrm>
            <a:off x="3493008" y="3108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Тести icon" descr="Тест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8738" y="323469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33088" y="3154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Тести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xUnit, FluentAssertions, WebApplicationFactory</a:t>
            </a:r>
            <a:endParaRPr lang="en-US" sz="1200" dirty="0"/>
          </a:p>
        </p:txBody>
      </p:sp>
      <p:sp>
        <p:nvSpPr>
          <p:cNvPr id="28" name="stack Інструменти"/>
          <p:cNvSpPr/>
          <p:nvPr/>
        </p:nvSpPr>
        <p:spPr>
          <a:xfrm>
            <a:off x="6071616" y="2880360"/>
            <a:ext cx="2615184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9" name="Інструменти circle"/>
          <p:cNvSpPr/>
          <p:nvPr/>
        </p:nvSpPr>
        <p:spPr>
          <a:xfrm>
            <a:off x="6300216" y="31089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Інструменти icon" descr="Інструмент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946" y="323469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0296" y="3154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Інструменти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6300216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JetBrains Rider, .NET CLI, npm, dotnet-ef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Архітектура системи</a:t>
            </a:r>
            <a:endParaRPr lang="en-US" sz="2600" dirty="0"/>
          </a:p>
        </p:txBody>
      </p:sp>
      <p:sp>
        <p:nvSpPr>
          <p:cNvPr id="3" name="architecture frame"/>
          <p:cNvSpPr/>
          <p:nvPr/>
        </p:nvSpPr>
        <p:spPr>
          <a:xfrm>
            <a:off x="457200" y="1005840"/>
            <a:ext cx="3703320" cy="36576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4" name="architecture diagram" descr="Схема архітектури AutoMar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31" y="1097280"/>
            <a:ext cx="3086058" cy="3474720"/>
          </a:xfrm>
          <a:prstGeom prst="rect">
            <a:avLst/>
          </a:prstGeom>
        </p:spPr>
      </p:pic>
      <p:sp>
        <p:nvSpPr>
          <p:cNvPr id="5" name="layer 1"/>
          <p:cNvSpPr/>
          <p:nvPr/>
        </p:nvSpPr>
        <p:spPr>
          <a:xfrm>
            <a:off x="4389120" y="1005840"/>
            <a:ext cx="4297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6" name="layer num 1"/>
          <p:cNvSpPr/>
          <p:nvPr/>
        </p:nvSpPr>
        <p:spPr>
          <a:xfrm>
            <a:off x="4553712" y="1207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53712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Клієнт (Angular SPA)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38988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Сторінки, guards, ApiService. JWT додає interceptor до кожного запиту.</a:t>
            </a:r>
            <a:endParaRPr lang="en-US" sz="1100" dirty="0"/>
          </a:p>
        </p:txBody>
      </p:sp>
      <p:sp>
        <p:nvSpPr>
          <p:cNvPr id="10" name="layer 2"/>
          <p:cNvSpPr/>
          <p:nvPr/>
        </p:nvSpPr>
        <p:spPr>
          <a:xfrm>
            <a:off x="4389120" y="1947672"/>
            <a:ext cx="4297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1" name="layer num 2"/>
          <p:cNvSpPr/>
          <p:nvPr/>
        </p:nvSpPr>
        <p:spPr>
          <a:xfrm>
            <a:off x="4553712" y="2148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3712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2039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Middleware API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23317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Логування, обробка помилок, CORS, rate limit, автентифікація, перевірка блокування.</a:t>
            </a:r>
            <a:endParaRPr lang="en-US" sz="1100" dirty="0"/>
          </a:p>
        </p:txBody>
      </p:sp>
      <p:sp>
        <p:nvSpPr>
          <p:cNvPr id="15" name="layer 3"/>
          <p:cNvSpPr/>
          <p:nvPr/>
        </p:nvSpPr>
        <p:spPr>
          <a:xfrm>
            <a:off x="4389120" y="2889504"/>
            <a:ext cx="4297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6" name="layer num 3"/>
          <p:cNvSpPr/>
          <p:nvPr/>
        </p:nvSpPr>
        <p:spPr>
          <a:xfrm>
            <a:off x="4553712" y="3090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3712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2980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Контролери → сервіси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32735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8 тонких контролерів, уся бізнес-логіка — в сервісах з інтерфейсами.</a:t>
            </a:r>
            <a:endParaRPr lang="en-US" sz="1100" dirty="0"/>
          </a:p>
        </p:txBody>
      </p:sp>
      <p:sp>
        <p:nvSpPr>
          <p:cNvPr id="20" name="layer 4"/>
          <p:cNvSpPr/>
          <p:nvPr/>
        </p:nvSpPr>
        <p:spPr>
          <a:xfrm>
            <a:off x="4389120" y="3831336"/>
            <a:ext cx="4297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1" name="layer num 4"/>
          <p:cNvSpPr/>
          <p:nvPr/>
        </p:nvSpPr>
        <p:spPr>
          <a:xfrm>
            <a:off x="4553712" y="403250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53712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120640" y="39227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EF Core → SQLite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120640" y="4215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AppDbContext, міграції, сид-дані: адмін, категорії, 36 демо-оголошень.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Модель даних (ER-діаграма)</a:t>
            </a:r>
            <a:endParaRPr lang="en-US" sz="2600" dirty="0"/>
          </a:p>
        </p:txBody>
      </p:sp>
      <p:sp>
        <p:nvSpPr>
          <p:cNvPr id="3" name="er frame"/>
          <p:cNvSpPr/>
          <p:nvPr/>
        </p:nvSpPr>
        <p:spPr>
          <a:xfrm>
            <a:off x="457200" y="1005840"/>
            <a:ext cx="5760720" cy="36576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4" name="er diagram" descr="ER-діаграма бази даних AutoMar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4752"/>
            <a:ext cx="5577840" cy="3259777"/>
          </a:xfrm>
          <a:prstGeom prst="rect">
            <a:avLst/>
          </a:prstGeom>
        </p:spPr>
      </p:pic>
      <p:sp>
        <p:nvSpPr>
          <p:cNvPr id="5" name="er note 1"/>
          <p:cNvSpPr/>
          <p:nvPr/>
        </p:nvSpPr>
        <p:spPr>
          <a:xfrm>
            <a:off x="6400800" y="1005840"/>
            <a:ext cx="2286000" cy="1133856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6" name="er note icon 1" descr="5 таблиц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1612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85432" y="11247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таблиць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65392" y="148132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Users, Categories, Listings, Photos, Favorites</a:t>
            </a:r>
            <a:endParaRPr lang="en-US" sz="1050" dirty="0"/>
          </a:p>
        </p:txBody>
      </p:sp>
      <p:sp>
        <p:nvSpPr>
          <p:cNvPr id="9" name="er note 2"/>
          <p:cNvSpPr/>
          <p:nvPr/>
        </p:nvSpPr>
        <p:spPr>
          <a:xfrm>
            <a:off x="6400800" y="2258568"/>
            <a:ext cx="2286000" cy="1133856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10" name="er note icon 2" descr="Зв'язки 1: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41401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85432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Зв'язки 1:N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565392" y="2734056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Користувач → оголошення, категорія → оголошення, оголошення → фото</a:t>
            </a:r>
            <a:endParaRPr lang="en-US" sz="1050" dirty="0"/>
          </a:p>
        </p:txBody>
      </p:sp>
      <p:sp>
        <p:nvSpPr>
          <p:cNvPr id="13" name="er note 3"/>
          <p:cNvSpPr/>
          <p:nvPr/>
        </p:nvSpPr>
        <p:spPr>
          <a:xfrm>
            <a:off x="6400800" y="3511296"/>
            <a:ext cx="2286000" cy="1133856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14" name="er note icon 3" descr="Обране — M: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66674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85432" y="36301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Обране — M:N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565392" y="39867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Таблиця Favorites зі складеним ключем (UserId, ListingId)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REST API: 32 ендпоінти</a:t>
            </a:r>
            <a:endParaRPr lang="en-US" sz="2600" dirty="0"/>
          </a:p>
        </p:txBody>
      </p:sp>
      <p:graphicFrame>
        <p:nvGraphicFramePr>
          <p:cNvPr id="9" name="endpoi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480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2148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Контролер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Методів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Призначення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Auth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Реєстрація, вхід (JWT)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Listings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Каталог, CRUD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Довідник категорій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Favorites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Обране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Profile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Профіль, зміна пароля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Admin / Listings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Модерація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Admin / Users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Блокування, ролі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Admin / Stats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Статистика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4" name="code block"/>
          <p:cNvSpPr/>
          <p:nvPr/>
        </p:nvSpPr>
        <p:spPr>
          <a:xfrm>
            <a:off x="5166360" y="1005840"/>
            <a:ext cx="3520440" cy="3456432"/>
          </a:xfrm>
          <a:prstGeom prst="roundRect">
            <a:avLst>
              <a:gd name="adj" fmla="val 21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5" name="code icon" descr="ко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161288"/>
            <a:ext cx="21945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Приклад запиту</a:t>
            </a:r>
            <a:endParaRPr lang="en-US" sz="1300" dirty="0"/>
          </a:p>
        </p:txBody>
      </p:sp>
      <p:sp>
        <p:nvSpPr>
          <p:cNvPr id="7" name="code text"/>
          <p:cNvSpPr txBox="1"/>
          <p:nvPr/>
        </p:nvSpPr>
        <p:spPr>
          <a:xfrm>
            <a:off x="5349240" y="1554480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/api/listings?q=toyota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&amp;categoryId=1&amp;sort=PriceAsc
</a:t>
            </a:r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"items": [ { "title":
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"Toyota Camry Hybrid 2012",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"price": 485000, ... } ],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"page": 1,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"totalCount": 2,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"hasNext": false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166360" y="4526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Документація API — Swagger UI: /swagger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Безпека та надійність</a:t>
            </a:r>
            <a:endParaRPr lang="en-US" sz="2600" dirty="0"/>
          </a:p>
        </p:txBody>
      </p:sp>
      <p:sp>
        <p:nvSpPr>
          <p:cNvPr id="3" name="security JWT і ролі"/>
          <p:cNvSpPr/>
          <p:nvPr/>
        </p:nvSpPr>
        <p:spPr>
          <a:xfrm>
            <a:off x="45720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4" name="JWT і ролі circle"/>
          <p:cNvSpPr/>
          <p:nvPr/>
        </p:nvSpPr>
        <p:spPr>
          <a:xfrm>
            <a:off x="658368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JWT і ролі icon" descr="JWT і рол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704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JWT і ролі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179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Токен на 7 днів, перевірка підпису, видавця та терміну дії</a:t>
            </a:r>
            <a:endParaRPr lang="en-US" sz="1200" dirty="0"/>
          </a:p>
        </p:txBody>
      </p:sp>
      <p:sp>
        <p:nvSpPr>
          <p:cNvPr id="8" name="security Паролі BCrypt"/>
          <p:cNvSpPr/>
          <p:nvPr/>
        </p:nvSpPr>
        <p:spPr>
          <a:xfrm>
            <a:off x="466344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9" name="Паролі BCrypt circle"/>
          <p:cNvSpPr/>
          <p:nvPr/>
        </p:nvSpPr>
        <p:spPr>
          <a:xfrm>
            <a:off x="4864608" y="12801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Паролі BCrypt icon" descr="Паролі BCry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1704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Паролі BCrypt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5179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У БД лише хеш із сіллю, пароль ніде не зберігається</a:t>
            </a:r>
            <a:endParaRPr lang="en-US" sz="1200" dirty="0"/>
          </a:p>
        </p:txBody>
      </p:sp>
      <p:sp>
        <p:nvSpPr>
          <p:cNvPr id="13" name="security Миттєве блокування"/>
          <p:cNvSpPr/>
          <p:nvPr/>
        </p:nvSpPr>
        <p:spPr>
          <a:xfrm>
            <a:off x="457200" y="22402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4" name="Миттєве блокування circle"/>
          <p:cNvSpPr/>
          <p:nvPr/>
        </p:nvSpPr>
        <p:spPr>
          <a:xfrm>
            <a:off x="658368" y="25146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Миттєве блокування icon" descr="Миттєве блокуванн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651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404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Миттєве блокування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BlockedUserMiddleware відсікає навіть старі токени</a:t>
            </a:r>
            <a:endParaRPr lang="en-US" sz="1200" dirty="0"/>
          </a:p>
        </p:txBody>
      </p:sp>
      <p:sp>
        <p:nvSpPr>
          <p:cNvPr id="18" name="security Rate limiting"/>
          <p:cNvSpPr/>
          <p:nvPr/>
        </p:nvSpPr>
        <p:spPr>
          <a:xfrm>
            <a:off x="4663440" y="22402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9" name="Rate limiting circle"/>
          <p:cNvSpPr/>
          <p:nvPr/>
        </p:nvSpPr>
        <p:spPr>
          <a:xfrm>
            <a:off x="4864608" y="2514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Rate limiting icon" descr="Rate limi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6517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2404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Rate limiting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Ліміт спроб входу з однієї IP-адреси на хвилину</a:t>
            </a:r>
            <a:endParaRPr lang="en-US" sz="1200" dirty="0"/>
          </a:p>
        </p:txBody>
      </p:sp>
      <p:sp>
        <p:nvSpPr>
          <p:cNvPr id="23" name="security Валідація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4" name="Валідація circle"/>
          <p:cNvSpPr/>
          <p:nvPr/>
        </p:nvSpPr>
        <p:spPr>
          <a:xfrm>
            <a:off x="658368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Валідація icon" descr="Валідація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8862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639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Валідація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371600" y="39867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DataAnnotations у DTO + бізнес-перевірки в сервісах</a:t>
            </a:r>
            <a:endParaRPr lang="en-US" sz="1200" dirty="0"/>
          </a:p>
        </p:txBody>
      </p:sp>
      <p:sp>
        <p:nvSpPr>
          <p:cNvPr id="28" name="security Обробка помилок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9" name="Обробка помилок circle"/>
          <p:cNvSpPr/>
          <p:nvPr/>
        </p:nvSpPr>
        <p:spPr>
          <a:xfrm>
            <a:off x="4864608" y="3749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Обробка помилок icon" descr="Обробка помилок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8862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77840" y="3639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Обробка помилок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577840" y="39867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Єдиний middleware, відповіді у форматі ProblemDetails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Інтерфейс користувача</a:t>
            </a:r>
            <a:endParaRPr lang="en-US" sz="2600" dirty="0"/>
          </a:p>
        </p:txBody>
      </p:sp>
      <p:sp>
        <p:nvSpPr>
          <p:cNvPr id="3" name="screen frame 1"/>
          <p:cNvSpPr/>
          <p:nvPr/>
        </p:nvSpPr>
        <p:spPr>
          <a:xfrm>
            <a:off x="457200" y="1051560"/>
            <a:ext cx="4023360" cy="280924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4" name="screenshot 1" descr="Головна: пошук, фільтри, сортування, пагінаці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24712"/>
            <a:ext cx="3877056" cy="20462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308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Головна: пошук, фільтри, сортування, пагінація</a:t>
            </a:r>
            <a:endParaRPr lang="en-US" sz="1200" dirty="0"/>
          </a:p>
        </p:txBody>
      </p:sp>
      <p:sp>
        <p:nvSpPr>
          <p:cNvPr id="6" name="screen frame 2"/>
          <p:cNvSpPr/>
          <p:nvPr/>
        </p:nvSpPr>
        <p:spPr>
          <a:xfrm>
            <a:off x="4663440" y="1051560"/>
            <a:ext cx="4023360" cy="280924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7" name="screenshot 2" descr="Сторінка оголошення: фото, ціна, контакти, обран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124712"/>
            <a:ext cx="3877056" cy="20462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00600" y="3308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Сторінка оголошення: фото, ціна, контакти, обране</a:t>
            </a:r>
            <a:endParaRPr lang="en-US" sz="1200" dirty="0"/>
          </a:p>
        </p:txBody>
      </p:sp>
      <p:pic>
        <p:nvPicPr>
          <p:cNvPr id="9" name="note icon" descr="приміт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" y="40690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Каталог доступний гостям без реєстрації. Контакти продавця показуються за кнопкою.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Панель адміністратора</a:t>
            </a:r>
            <a:endParaRPr lang="en-US" sz="2600" dirty="0"/>
          </a:p>
        </p:txBody>
      </p:sp>
      <p:sp>
        <p:nvSpPr>
          <p:cNvPr id="3" name="screen frame 1"/>
          <p:cNvSpPr/>
          <p:nvPr/>
        </p:nvSpPr>
        <p:spPr>
          <a:xfrm>
            <a:off x="457200" y="1051560"/>
            <a:ext cx="4023360" cy="280924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4" name="screenshot 1" descr="Модерація: схвалити або відхилити з причино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24712"/>
            <a:ext cx="3877056" cy="20462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308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Модерація: схвалити або відхилити з причиною</a:t>
            </a:r>
            <a:endParaRPr lang="en-US" sz="1200" dirty="0"/>
          </a:p>
        </p:txBody>
      </p:sp>
      <p:sp>
        <p:nvSpPr>
          <p:cNvPr id="6" name="screen frame 2"/>
          <p:cNvSpPr/>
          <p:nvPr/>
        </p:nvSpPr>
        <p:spPr>
          <a:xfrm>
            <a:off x="4663440" y="1051560"/>
            <a:ext cx="4023360" cy="280924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7" name="screenshot 2" descr="Статистика: користувачі, оголошення, категорі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124712"/>
            <a:ext cx="3877056" cy="20462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00600" y="3308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Статистика: користувачі, оголошення, категорії</a:t>
            </a:r>
            <a:endParaRPr lang="en-US" sz="1200" dirty="0"/>
          </a:p>
        </p:txBody>
      </p:sp>
      <p:pic>
        <p:nvPicPr>
          <p:cNvPr id="9" name="note icon" descr="приміт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" y="40690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Адмін-панель доступна лише ролі Admin: це перевіряє і guard у браузері, і сервер.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Тестування</a:t>
            </a:r>
            <a:endParaRPr lang="en-US" sz="2600" dirty="0"/>
          </a:p>
        </p:txBody>
      </p:sp>
      <p:sp>
        <p:nvSpPr>
          <p:cNvPr id="3" name="stat 1"/>
          <p:cNvSpPr/>
          <p:nvPr/>
        </p:nvSpPr>
        <p:spPr>
          <a:xfrm>
            <a:off x="457200" y="10058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тестів усього</a:t>
            </a:r>
            <a:endParaRPr lang="en-US" sz="1200" dirty="0"/>
          </a:p>
        </p:txBody>
      </p:sp>
      <p:sp>
        <p:nvSpPr>
          <p:cNvPr id="6" name="stat 2"/>
          <p:cNvSpPr/>
          <p:nvPr/>
        </p:nvSpPr>
        <p:spPr>
          <a:xfrm>
            <a:off x="2560320" y="10058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83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юніт-тести сервісів</a:t>
            </a:r>
            <a:endParaRPr lang="en-US" sz="1200" dirty="0"/>
          </a:p>
        </p:txBody>
      </p:sp>
      <p:sp>
        <p:nvSpPr>
          <p:cNvPr id="9" name="stat 3"/>
          <p:cNvSpPr/>
          <p:nvPr/>
        </p:nvSpPr>
        <p:spPr>
          <a:xfrm>
            <a:off x="4663440" y="10058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інтеграційні тести</a:t>
            </a:r>
            <a:endParaRPr lang="en-US" sz="1200" dirty="0"/>
          </a:p>
        </p:txBody>
      </p:sp>
      <p:sp>
        <p:nvSpPr>
          <p:cNvPr id="12" name="stat 4"/>
          <p:cNvSpPr/>
          <p:nvPr/>
        </p:nvSpPr>
        <p:spPr>
          <a:xfrm>
            <a:off x="6766560" y="10058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падінь</a:t>
            </a:r>
            <a:endParaRPr lang="en-US" sz="1200" dirty="0"/>
          </a:p>
        </p:txBody>
      </p:sp>
      <p:sp>
        <p:nvSpPr>
          <p:cNvPr id="15" name="what tests check"/>
          <p:cNvSpPr/>
          <p:nvPr/>
        </p:nvSpPr>
        <p:spPr>
          <a:xfrm>
            <a:off x="457200" y="251460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16" name="tests icon" descr="тест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7004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05840" y="2633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Що перевіряють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035808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Реєстрацію, вхід і видачу токенів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Пошук, фільтри, сортування, пагінацію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Права доступу: 401 / 403 для чужих дій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Модерацію та повний сценарій через HTTP</a:t>
            </a:r>
            <a:endParaRPr lang="en-US" sz="1400" dirty="0"/>
          </a:p>
        </p:txBody>
      </p:sp>
      <p:sp>
        <p:nvSpPr>
          <p:cNvPr id="19" name="bugs found"/>
          <p:cNvSpPr/>
          <p:nvPr/>
        </p:nvSpPr>
        <p:spPr>
          <a:xfrm>
            <a:off x="4663440" y="251460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pic>
        <p:nvPicPr>
          <p:cNvPr id="20" name="bugs icon" descr="баг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67004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12080" y="26334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Тести знайшли й ми виправили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892040" y="3035808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Пошук не знаходив кирилицю без урахування регістру (обмеження SQLite)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Помилку запиту в списку обраного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Заблокований користувач працював зі старим токеном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Підсумки</a:t>
            </a:r>
            <a:endParaRPr lang="en-US" sz="2600" dirty="0"/>
          </a:p>
        </p:txBody>
      </p:sp>
      <p:sp>
        <p:nvSpPr>
          <p:cNvPr id="3" name="result 1"/>
          <p:cNvSpPr/>
          <p:nvPr/>
        </p:nvSpPr>
        <p:spPr>
          <a:xfrm>
            <a:off x="45720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069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09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контролерів</a:t>
            </a:r>
            <a:endParaRPr lang="en-US" sz="1200" dirty="0"/>
          </a:p>
        </p:txBody>
      </p:sp>
      <p:sp>
        <p:nvSpPr>
          <p:cNvPr id="6" name="result 2"/>
          <p:cNvSpPr/>
          <p:nvPr/>
        </p:nvSpPr>
        <p:spPr>
          <a:xfrm>
            <a:off x="256032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069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709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REST-ендпоінти</a:t>
            </a:r>
            <a:endParaRPr lang="en-US" sz="1200" dirty="0"/>
          </a:p>
        </p:txBody>
      </p:sp>
      <p:sp>
        <p:nvSpPr>
          <p:cNvPr id="9" name="result 3"/>
          <p:cNvSpPr/>
          <p:nvPr/>
        </p:nvSpPr>
        <p:spPr>
          <a:xfrm>
            <a:off x="466344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069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09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сторінок Angular</a:t>
            </a:r>
            <a:endParaRPr lang="en-US" sz="1200" dirty="0"/>
          </a:p>
        </p:txBody>
      </p:sp>
      <p:sp>
        <p:nvSpPr>
          <p:cNvPr id="12" name="result 4"/>
          <p:cNvSpPr/>
          <p:nvPr/>
        </p:nvSpPr>
        <p:spPr>
          <a:xfrm>
            <a:off x="676656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069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709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демо-оголошень</a:t>
            </a:r>
            <a:endParaRPr lang="en-US" sz="1200" dirty="0"/>
          </a:p>
        </p:txBody>
      </p:sp>
      <p:sp>
        <p:nvSpPr>
          <p:cNvPr id="15" name="done"/>
          <p:cNvSpPr/>
          <p:nvPr/>
        </p:nvSpPr>
        <p:spPr>
          <a:xfrm>
            <a:off x="45720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16" name="Зроблено circle"/>
          <p:cNvSpPr/>
          <p:nvPr/>
        </p:nvSpPr>
        <p:spPr>
          <a:xfrm>
            <a:off x="658368" y="2560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Зроблено icon" descr="Зроблен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656332"/>
            <a:ext cx="192024" cy="19202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61288" y="2560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Що зроблено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09067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Робочий REST API з ролями та модерацією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Вебінтерфейс для гостей, користувачів і адміна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БД з міграціями та демо-даними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Документація: Swagger, README, діаграми</a:t>
            </a:r>
            <a:endParaRPr lang="en-US" sz="1400" dirty="0"/>
          </a:p>
        </p:txBody>
      </p:sp>
      <p:sp>
        <p:nvSpPr>
          <p:cNvPr id="20" name="next"/>
          <p:cNvSpPr/>
          <p:nvPr/>
        </p:nvSpPr>
        <p:spPr>
          <a:xfrm>
            <a:off x="466344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9525">
            <a:solidFill>
              <a:srgbClr val="E3E7E5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9000"/>
              </a:srgbClr>
            </a:outerShdw>
          </a:effectLst>
        </p:spPr>
      </p:sp>
      <p:sp>
        <p:nvSpPr>
          <p:cNvPr id="21" name="Розвиток circle"/>
          <p:cNvSpPr/>
          <p:nvPr/>
        </p:nvSpPr>
        <p:spPr>
          <a:xfrm>
            <a:off x="4864608" y="25603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Розвиток icon" descr="Розвит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2656332"/>
            <a:ext cx="192024" cy="1920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367528" y="2560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Можливий розвиток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4892040" y="309067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Перехід на PostgreSQL для продакшену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Завантаження фото файлами замість посилань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Чат між продавцем і покупцем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Багатомовність інтерфейсу (UA / EN)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rket">
  <a:themeElements>
    <a:clrScheme name="AutoMarket">
      <a:dk1>
        <a:srgbClr val="1F2937"/>
      </a:dk1>
      <a:lt1>
        <a:srgbClr val="FFFFFF"/>
      </a:lt1>
      <a:dk2>
        <a:srgbClr val="0F172A"/>
      </a:dk2>
      <a:lt2>
        <a:srgbClr val="F2F4F3"/>
      </a:lt2>
      <a:accent1>
        <a:srgbClr val="1E8E3E"/>
      </a:accent1>
      <a:accent2>
        <a:srgbClr val="E3A008"/>
      </a:accent2>
      <a:accent3>
        <a:srgbClr val="3B82F6"/>
      </a:accent3>
      <a:accent4>
        <a:srgbClr val="E5484D"/>
      </a:accent4>
      <a:accent5>
        <a:srgbClr val="F97316"/>
      </a:accent5>
      <a:accent6>
        <a:srgbClr val="6B7280"/>
      </a:accent6>
      <a:hlink>
        <a:srgbClr val="1E8E3E"/>
      </a:hlink>
      <a:folHlink>
        <a:srgbClr val="166534"/>
      </a:folHlink>
    </a:clrScheme>
    <a:fontScheme name="AutoMark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AutoMarket — звіт з групового проєкту</dc:title>
  <dc:subject>PptxGenJS Presentation</dc:subject>
  <dc:creator>PptxGenJS</dc:creator>
  <cp:lastModifiedBy>PptxGenJS</cp:lastModifiedBy>
  <cp:revision>1</cp:revision>
  <dcterms:created xsi:type="dcterms:W3CDTF">2026-10-05T16:06:04Z</dcterms:created>
  <dcterms:modified xsi:type="dcterms:W3CDTF">2026-10-05T16:06:04Z</dcterms:modified>
</cp:coreProperties>
</file>